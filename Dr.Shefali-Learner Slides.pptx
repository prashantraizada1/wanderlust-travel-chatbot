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  <p:sldMasterId id="2147483685" r:id="rId2"/>
    <p:sldMasterId id="2147483686" r:id="rId3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40"/>
      <p:bold r:id="rId41"/>
      <p:italic r:id="rId42"/>
      <p:boldItalic r:id="rId43"/>
    </p:embeddedFont>
    <p:embeddedFont>
      <p:font typeface="Montserrat" panose="00000500000000000000" pitchFamily="2" charset="0"/>
      <p:regular r:id="rId44"/>
      <p:bold r:id="rId45"/>
      <p:italic r:id="rId46"/>
      <p:boldItalic r:id="rId47"/>
    </p:embeddedFont>
    <p:embeddedFont>
      <p:font typeface="Montserrat Medium" panose="00000600000000000000" pitchFamily="2" charset="0"/>
      <p:regular r:id="rId48"/>
      <p:italic r:id="rId49"/>
    </p:embeddedFont>
    <p:embeddedFont>
      <p:font typeface="Nunito" pitchFamily="2" charset="0"/>
      <p:regular r:id="rId50"/>
      <p:bold r:id="rId51"/>
      <p:italic r:id="rId52"/>
      <p:boldItalic r:id="rId53"/>
    </p:embeddedFont>
    <p:embeddedFont>
      <p:font typeface="Nunito ExtraBold" pitchFamily="2" charset="0"/>
      <p:bold r:id="rId54"/>
      <p:boldItalic r:id="rId55"/>
    </p:embeddedFont>
    <p:embeddedFont>
      <p:font typeface="Nunito Medium" panose="020B0604020202020204" charset="0"/>
      <p:regular r:id="rId56"/>
      <p:bold r:id="rId57"/>
      <p:italic r:id="rId58"/>
      <p:boldItalic r:id="rId59"/>
    </p:embeddedFont>
    <p:embeddedFont>
      <p:font typeface="Nunito SemiBold" pitchFamily="2" charset="0"/>
      <p:bold r:id="rId60"/>
      <p:boldItalic r:id="rId61"/>
    </p:embeddedFont>
    <p:embeddedFont>
      <p:font typeface="Verdana" panose="020B0604030504040204" pitchFamily="34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143288-809D-40E6-B21C-5C0D959D3583}">
  <a:tblStyle styleId="{07143288-809D-40E6-B21C-5C0D959D358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76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63" Type="http://schemas.openxmlformats.org/officeDocument/2006/relationships/font" Target="fonts/font24.fntdata"/><Relationship Id="rId68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66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font" Target="fonts/font22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64" Type="http://schemas.openxmlformats.org/officeDocument/2006/relationships/font" Target="fonts/font25.fntdata"/><Relationship Id="rId69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7.fntdata"/><Relationship Id="rId59" Type="http://schemas.openxmlformats.org/officeDocument/2006/relationships/font" Target="fonts/font20.fntdata"/><Relationship Id="rId67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font" Target="fonts/font2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font" Target="fonts/font21.fntdata"/><Relationship Id="rId65" Type="http://schemas.openxmlformats.org/officeDocument/2006/relationships/font" Target="fonts/font2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notesMaster" Target="notesMasters/notesMaster1.xml"/><Relationship Id="rId34" Type="http://schemas.openxmlformats.org/officeDocument/2006/relationships/slide" Target="slides/slide31.xml"/><Relationship Id="rId50" Type="http://schemas.openxmlformats.org/officeDocument/2006/relationships/font" Target="fonts/font11.fntdata"/><Relationship Id="rId55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868d81676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9868d81676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34c064de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34c064de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b0d0e63e7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b0d0e63e7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3a6d13d8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3b3a6d13d8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d3bb7b048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d3bb7b048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d3bb7b048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d3bb7b048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d3bb7b048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d3bb7b048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d3bb7b048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d3bb7b048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d3bb7b048_0_8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d3bb7b048_0_813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d3bb7b048_0_1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bd3bb7b048_0_1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d3bb7b048_0_8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d3bb7b048_0_885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d3bb7b048_0_1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3bd3bb7b048_0_1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d3bb7b048_0_1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d3bb7b048_0_1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d4848664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d4848664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d3bb7b048_0_1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3bd3bb7b048_0_1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d4848664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bd4848664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d48486645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bd48486645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d3bb7b048_0_1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g3bd3bb7b048_0_1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d48486645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bd48486645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d3bb7b048_0_2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g3bd3bb7b048_0_2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d48486645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bd48486645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d3bb7b048_0_2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bd3bb7b048_0_2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d48486645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bd48486645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d3bb7b048_0_1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3bd3bb7b048_0_1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d3bb7b048_0_9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bd3bb7b048_0_9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d3bb7b048_0_9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bd3bb7b048_0_9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d3bb7b048_0_2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bd3bb7b048_0_25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d3bb7b048_0_2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3bd3bb7b048_0_2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d3bb7b048_0_2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bd3bb7b048_0_2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bd3bb7b048_0_2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bd3bb7b048_0_2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d3bb7b048_0_2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bd3bb7b048_0_2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d3bb7b048_0_2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g3bd3bb7b048_0_2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d48486645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bd48486645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d48486645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bd48486645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34c064def_0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3" name="Google Shape;433;g3b34c064def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g3b34c064def_0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b34c064def_0_6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6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3" t="18360" r="37295" b="19147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36" name="Google Shape;3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42" name="Google Shape;42;p8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{07143288-809D-40E6-B21C-5C0D959D3583}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OBJECT"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9500" y="68263"/>
            <a:ext cx="1395475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/>
          <p:nvPr/>
        </p:nvSpPr>
        <p:spPr>
          <a:xfrm>
            <a:off x="6593" y="8"/>
            <a:ext cx="175895" cy="355600"/>
          </a:xfrm>
          <a:custGeom>
            <a:avLst/>
            <a:gdLst/>
            <a:ahLst/>
            <a:cxnLst/>
            <a:rect l="l" t="t" r="r" b="b"/>
            <a:pathLst>
              <a:path w="175895" h="355600" extrusionOk="0">
                <a:moveTo>
                  <a:pt x="175498" y="355498"/>
                </a:moveTo>
                <a:lnTo>
                  <a:pt x="0" y="355498"/>
                </a:lnTo>
                <a:lnTo>
                  <a:pt x="0" y="0"/>
                </a:lnTo>
                <a:lnTo>
                  <a:pt x="175498" y="0"/>
                </a:lnTo>
                <a:lnTo>
                  <a:pt x="175498" y="355498"/>
                </a:lnTo>
                <a:close/>
              </a:path>
            </a:pathLst>
          </a:custGeom>
          <a:solidFill>
            <a:srgbClr val="0D37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6593" y="353729"/>
            <a:ext cx="175895" cy="355600"/>
          </a:xfrm>
          <a:custGeom>
            <a:avLst/>
            <a:gdLst/>
            <a:ahLst/>
            <a:cxnLst/>
            <a:rect l="l" t="t" r="r" b="b"/>
            <a:pathLst>
              <a:path w="175895" h="355600" extrusionOk="0">
                <a:moveTo>
                  <a:pt x="175498" y="355498"/>
                </a:moveTo>
                <a:lnTo>
                  <a:pt x="0" y="355498"/>
                </a:lnTo>
                <a:lnTo>
                  <a:pt x="0" y="0"/>
                </a:lnTo>
                <a:lnTo>
                  <a:pt x="175498" y="0"/>
                </a:lnTo>
                <a:lnTo>
                  <a:pt x="175498" y="355498"/>
                </a:lnTo>
                <a:close/>
              </a:path>
            </a:pathLst>
          </a:custGeom>
          <a:solidFill>
            <a:srgbClr val="1973D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 txBox="1">
            <a:spLocks noGrp="1"/>
          </p:cNvSpPr>
          <p:nvPr>
            <p:ph type="title"/>
          </p:nvPr>
        </p:nvSpPr>
        <p:spPr>
          <a:xfrm>
            <a:off x="456250" y="211482"/>
            <a:ext cx="6014100" cy="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>
                <a:solidFill>
                  <a:srgbClr val="0F3EA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ftr" idx="11"/>
          </p:nvPr>
        </p:nvSpPr>
        <p:spPr>
          <a:xfrm>
            <a:off x="2249349" y="4947990"/>
            <a:ext cx="4578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 b="1" i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7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59" r="37296" b="19152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27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1" name="Google Shape;12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8" name="Google Shape;128;p2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9" name="Google Shape;12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2" name="Google Shape;132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6" name="Google Shape;136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0" name="Google Shape;140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1" name="Google Shape;141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" name="Google Shape;147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8" name="Google Shape;148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1" name="Google Shape;15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5" name="Google Shape;155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60" name="Google Shape;16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" name="Google Shape;163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0"/>
          <p:cNvSpPr/>
          <p:nvPr/>
        </p:nvSpPr>
        <p:spPr>
          <a:xfrm>
            <a:off x="77700" y="2163300"/>
            <a:ext cx="8988600" cy="95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0F3FA8"/>
                </a:solidFill>
                <a:latin typeface="Montserrat"/>
                <a:ea typeface="Montserrat"/>
                <a:cs typeface="Montserrat"/>
                <a:sym typeface="Montserrat"/>
              </a:rPr>
              <a:t>Project 3 - Travel RAG Chatbot Project</a:t>
            </a:r>
            <a:endParaRPr sz="2700" b="1">
              <a:solidFill>
                <a:srgbClr val="0F3FA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F3FA8"/>
                </a:solidFill>
                <a:latin typeface="Montserrat"/>
                <a:ea typeface="Montserrat"/>
                <a:cs typeface="Montserrat"/>
                <a:sym typeface="Montserrat"/>
              </a:rPr>
              <a:t>AI-Powered Travel Assistant with Governance &amp; LLMOps</a:t>
            </a:r>
            <a:endParaRPr sz="1600" b="1">
              <a:solidFill>
                <a:srgbClr val="0F3F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1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3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Ground rules for setting up an Azure Resources for this project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Utilize the default resource group for all your tasks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dk1"/>
                </a:solidFill>
              </a:rPr>
              <a:t>NOTE</a:t>
            </a:r>
            <a:r>
              <a:rPr lang="en" sz="1400">
                <a:solidFill>
                  <a:schemeClr val="dk1"/>
                </a:solidFill>
              </a:rPr>
              <a:t>: To optimize resource management, use the existing resource group i.e default_resource_group for all tasks in the project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Avoid creating multiple resources and resource groups to ensure consistency, simplify monitoring, and reduce overhead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Select Region </a:t>
            </a:r>
            <a:r>
              <a:rPr lang="en" sz="1400">
                <a:solidFill>
                  <a:srgbClr val="FF0000"/>
                </a:solidFill>
              </a:rPr>
              <a:t>= East US </a:t>
            </a:r>
            <a:r>
              <a:rPr lang="en" sz="1400">
                <a:solidFill>
                  <a:schemeClr val="dk1"/>
                </a:solidFill>
              </a:rPr>
              <a:t>for the Azure AI Foundry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Pricing tier: </a:t>
            </a:r>
            <a:r>
              <a:rPr lang="en" sz="1400">
                <a:solidFill>
                  <a:srgbClr val="FF0000"/>
                </a:solidFill>
              </a:rPr>
              <a:t>Standard S0</a:t>
            </a:r>
            <a:r>
              <a:rPr lang="en" sz="1400">
                <a:solidFill>
                  <a:schemeClr val="dk1"/>
                </a:solidFill>
              </a:rPr>
              <a:t> pricing tier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If </a:t>
            </a:r>
            <a:r>
              <a:rPr lang="en" sz="1400" b="1">
                <a:solidFill>
                  <a:schemeClr val="dk1"/>
                </a:solidFill>
              </a:rPr>
              <a:t>Azure AI Foundry</a:t>
            </a:r>
            <a:r>
              <a:rPr lang="en" sz="1400">
                <a:solidFill>
                  <a:schemeClr val="dk1"/>
                </a:solidFill>
              </a:rPr>
              <a:t> has already been deployed, the setup process for it can be skipped, and the focus can shift directly to deploying the model(s)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rgbClr val="FF0000"/>
                </a:solidFill>
              </a:rPr>
              <a:t>Allow 10 to 15 minutes </a:t>
            </a:r>
            <a:r>
              <a:rPr lang="en" sz="1400">
                <a:solidFill>
                  <a:schemeClr val="dk1"/>
                </a:solidFill>
              </a:rPr>
              <a:t>for resources to become fully operational following its creation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77" name="Google Shape;177;p41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E39A9"/>
                </a:solidFill>
              </a:rPr>
              <a:t>Ground Rules : Important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3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All screenshots should be clear, high-quality, and legible, ensuring that details are easily visible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Wherever applicable, the learner's account details should be visible to verify ownership and authenticity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rgbClr val="FF0000"/>
                </a:solidFill>
              </a:rPr>
              <a:t>Red boxes </a:t>
            </a:r>
            <a:r>
              <a:rPr lang="en" sz="1400">
                <a:solidFill>
                  <a:schemeClr val="dk1"/>
                </a:solidFill>
              </a:rPr>
              <a:t>should be correctly placed to highlight the key steps in each screenshot, ensuring clarity and guiding the viewer through the process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overall structure and logical flow of the process must be maintained by placing each screenshot under the appropriate slide headers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Learners should avoid skipping steps or presenting them in an incorrect order, as this can disrupt the coherence of the submission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3" name="Google Shape;183;p42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E39A9"/>
                </a:solidFill>
              </a:rPr>
              <a:t>Instructions </a:t>
            </a:r>
            <a:endParaRPr sz="1800">
              <a:solidFill>
                <a:srgbClr val="0E39A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43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190" name="Google Shape;190;p43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3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43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873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2600" b="1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  Step 1: </a:t>
            </a:r>
            <a:r>
              <a:rPr lang="en" sz="2600" b="1" i="0" u="none" strike="noStrike" cap="none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Define Business context and objective</a:t>
            </a:r>
            <a:endParaRPr sz="2600" b="1" i="0" u="none" strike="noStrike" cap="none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4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E39A9"/>
                </a:solidFill>
              </a:rPr>
              <a:t>1.1 Problem Statement</a:t>
            </a:r>
            <a:endParaRPr/>
          </a:p>
        </p:txBody>
      </p:sp>
      <p:sp>
        <p:nvSpPr>
          <p:cNvPr id="199" name="Google Shape;199;p44"/>
          <p:cNvSpPr txBox="1"/>
          <p:nvPr/>
        </p:nvSpPr>
        <p:spPr>
          <a:xfrm>
            <a:off x="420850" y="861979"/>
            <a:ext cx="8520600" cy="390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ym typeface="Montserrat Medium"/>
              </a:rPr>
              <a:t>Travel information is distributed across multiple documents and structured datasets, making it difficult for users to quickly identify relevant and reliable answers through conventional search.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dirty="0">
              <a:sym typeface="Montserrat Medium"/>
            </a:endParaRPr>
          </a:p>
          <a:p>
            <a:pPr>
              <a:buSzPts val="1400"/>
            </a:pPr>
            <a:r>
              <a:rPr lang="en-IN" dirty="0"/>
              <a:t>Build a governed RAG-based travel assistant that transforms fragmented travel knowledge into accurate, context-aware responses.</a:t>
            </a:r>
          </a:p>
          <a:p>
            <a:pPr lvl="5" algn="ctr">
              <a:buSzPts val="1400"/>
            </a:pPr>
            <a:endParaRPr lang="en-US" b="0" i="0" u="none" strike="noStrike" cap="none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lvl="5" fontAlgn="t"/>
            <a:r>
              <a:rPr lang="en-IN" dirty="0"/>
              <a:t>The solution needs to:</a:t>
            </a:r>
          </a:p>
          <a:p>
            <a:pPr marL="342900" lvl="5" indent="-342900" fontAlgn="t">
              <a:buFont typeface="Arial" panose="020B0604020202020204" pitchFamily="34" charset="0"/>
              <a:buChar char="•"/>
            </a:pPr>
            <a:r>
              <a:rPr lang="en-IN" dirty="0"/>
              <a:t>Understand natural-language travel queries</a:t>
            </a:r>
          </a:p>
          <a:p>
            <a:pPr marL="342900" lvl="5" indent="-342900" fontAlgn="t">
              <a:buFont typeface="Arial" panose="020B0604020202020204" pitchFamily="34" charset="0"/>
              <a:buChar char="•"/>
            </a:pPr>
            <a:r>
              <a:rPr lang="en-IN" dirty="0"/>
              <a:t>Retrieve semantically relevant information</a:t>
            </a:r>
          </a:p>
          <a:p>
            <a:pPr marL="342900" lvl="5" indent="-342900" fontAlgn="t">
              <a:buFont typeface="Arial" panose="020B0604020202020204" pitchFamily="34" charset="0"/>
              <a:buChar char="•"/>
            </a:pPr>
            <a:r>
              <a:rPr lang="en-IN" dirty="0"/>
              <a:t>Generate responses grounded in retrieved content</a:t>
            </a:r>
          </a:p>
          <a:p>
            <a:pPr marL="342900" lvl="5" indent="-342900" fontAlgn="t">
              <a:buFont typeface="Arial" panose="020B0604020202020204" pitchFamily="34" charset="0"/>
              <a:buChar char="•"/>
            </a:pPr>
            <a:r>
              <a:rPr lang="en-IN" dirty="0"/>
              <a:t>Apply governance checks to inputs and outputs</a:t>
            </a:r>
          </a:p>
          <a:p>
            <a:pPr marL="342900" lvl="5" indent="-342900" fontAlgn="t">
              <a:buFont typeface="Arial" panose="020B0604020202020204" pitchFamily="34" charset="0"/>
              <a:buChar char="•"/>
            </a:pPr>
            <a:r>
              <a:rPr lang="en-IN" dirty="0"/>
              <a:t>Provide visibility into application execution and retrieval performance</a:t>
            </a:r>
            <a:endParaRPr lang="en-US" sz="1400" b="0" i="0" u="none" strike="noStrike" cap="none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5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E39A9"/>
                </a:solidFill>
              </a:rPr>
              <a:t>1.2 Business Context</a:t>
            </a:r>
            <a:endParaRPr/>
          </a:p>
        </p:txBody>
      </p:sp>
      <p:sp>
        <p:nvSpPr>
          <p:cNvPr id="205" name="Google Shape;205;p45"/>
          <p:cNvSpPr txBox="1"/>
          <p:nvPr/>
        </p:nvSpPr>
        <p:spPr>
          <a:xfrm>
            <a:off x="385011" y="948775"/>
            <a:ext cx="8520600" cy="3781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ym typeface="Montserrat Medium"/>
              </a:rPr>
              <a:t>Travel customers frequently need information related to: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ym typeface="Montserrat Medium"/>
              </a:rPr>
              <a:t>Airline policies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ym typeface="Montserrat Medium"/>
              </a:rPr>
              <a:t>Refund and cancellation rules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ym typeface="Montserrat Medium"/>
              </a:rPr>
              <a:t>Baggage information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ym typeface="Montserrat Medium"/>
              </a:rPr>
              <a:t>Travel guidance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ym typeface="Montserrat Medium"/>
              </a:rPr>
              <a:t>Other destination/travel-related information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dirty="0">
              <a:sym typeface="Montserrat Medium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ym typeface="Montserrat Medium"/>
              </a:rPr>
              <a:t>Manually searching through individual documents can be inefficient, particularly when the user's terminology does not exactly match the source documents.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dirty="0">
              <a:sym typeface="Montserrat Medium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ym typeface="Montserrat Medium"/>
              </a:rPr>
              <a:t>Vector search helps address this because queries and documents can be represented as embeddings and matched based on semantic similarity.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dirty="0">
              <a:sym typeface="Montserrat Medium"/>
            </a:endParaRPr>
          </a:p>
          <a:p>
            <a:pPr fontAlgn="t">
              <a:buSzPts val="1400"/>
            </a:pPr>
            <a:r>
              <a:rPr lang="en-IN" b="1" u="sng" dirty="0"/>
              <a:t>Business Value</a:t>
            </a:r>
          </a:p>
          <a:p>
            <a:pPr fontAlgn="t">
              <a:buSzPts val="1400"/>
            </a:pPr>
            <a:r>
              <a:rPr lang="en-IN" dirty="0"/>
              <a:t>Faster Information Access | Consistent Responses | Better User Experience | Grounded Answers | Improved Governance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6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E39A9"/>
                </a:solidFill>
              </a:rPr>
              <a:t>1.3 Data Description</a:t>
            </a:r>
            <a:endParaRPr/>
          </a:p>
        </p:txBody>
      </p:sp>
      <p:sp>
        <p:nvSpPr>
          <p:cNvPr id="211" name="Google Shape;211;p46"/>
          <p:cNvSpPr txBox="1"/>
          <p:nvPr/>
        </p:nvSpPr>
        <p:spPr>
          <a:xfrm>
            <a:off x="343759" y="811272"/>
            <a:ext cx="8597691" cy="398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ym typeface="Montserrat Medium"/>
              </a:rPr>
              <a:t>Your “</a:t>
            </a:r>
            <a:r>
              <a:rPr lang="en-US" dirty="0" err="1">
                <a:sym typeface="Montserrat Medium"/>
              </a:rPr>
              <a:t>TravelDataLoader</a:t>
            </a:r>
            <a:r>
              <a:rPr lang="en-US" dirty="0">
                <a:sym typeface="Montserrat Medium"/>
              </a:rPr>
              <a:t>” implementation handles the source information and converts source content into document objects suitable for the RAG pipeline.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dirty="0">
              <a:sym typeface="Montserrat Medium"/>
            </a:endParaRPr>
          </a:p>
          <a:p>
            <a:pPr fontAlgn="t"/>
            <a:r>
              <a:rPr lang="en-IN" b="1" dirty="0"/>
              <a:t>Data processing characteristics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/>
              <a:t>Source travel documents loaded from the project data repository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/>
              <a:t>Content converted into standardized document objects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/>
              <a:t>Long documents split into smaller overlapping text chunks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/>
              <a:t>Metadata retained to support source identification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/>
              <a:t>Chunks converted into vector embeddings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/>
              <a:t>Embeddings and content indexed in Azure AI Search</a:t>
            </a:r>
            <a:br>
              <a:rPr lang="en-IN" dirty="0"/>
            </a:br>
            <a:endParaRPr lang="en-IN" dirty="0"/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3A4EB7-6F7A-CA14-F373-45C58D6BE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891" y="3024338"/>
            <a:ext cx="2378124" cy="17676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7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E39A9"/>
                </a:solidFill>
              </a:rPr>
              <a:t>1.4 Data Source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71A720-F39E-8051-973B-69A8071C8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271586"/>
              </p:ext>
            </p:extLst>
          </p:nvPr>
        </p:nvGraphicFramePr>
        <p:xfrm>
          <a:off x="255264" y="937863"/>
          <a:ext cx="8633472" cy="3267773"/>
        </p:xfrm>
        <a:graphic>
          <a:graphicData uri="http://schemas.openxmlformats.org/drawingml/2006/table">
            <a:tbl>
              <a:tblPr>
                <a:tableStyleId>{07143288-809D-40E6-B21C-5C0D959D3583}</a:tableStyleId>
              </a:tblPr>
              <a:tblGrid>
                <a:gridCol w="2158368">
                  <a:extLst>
                    <a:ext uri="{9D8B030D-6E8A-4147-A177-3AD203B41FA5}">
                      <a16:colId xmlns:a16="http://schemas.microsoft.com/office/drawing/2014/main" val="3360721972"/>
                    </a:ext>
                  </a:extLst>
                </a:gridCol>
                <a:gridCol w="2158368">
                  <a:extLst>
                    <a:ext uri="{9D8B030D-6E8A-4147-A177-3AD203B41FA5}">
                      <a16:colId xmlns:a16="http://schemas.microsoft.com/office/drawing/2014/main" val="2700682695"/>
                    </a:ext>
                  </a:extLst>
                </a:gridCol>
                <a:gridCol w="2158368">
                  <a:extLst>
                    <a:ext uri="{9D8B030D-6E8A-4147-A177-3AD203B41FA5}">
                      <a16:colId xmlns:a16="http://schemas.microsoft.com/office/drawing/2014/main" val="775619901"/>
                    </a:ext>
                  </a:extLst>
                </a:gridCol>
                <a:gridCol w="2158368">
                  <a:extLst>
                    <a:ext uri="{9D8B030D-6E8A-4147-A177-3AD203B41FA5}">
                      <a16:colId xmlns:a16="http://schemas.microsoft.com/office/drawing/2014/main" val="2205838233"/>
                    </a:ext>
                  </a:extLst>
                </a:gridCol>
              </a:tblGrid>
              <a:tr h="4189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Data 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897915"/>
                  </a:ext>
                </a:extLst>
              </a:tr>
              <a:tr h="712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Travel knowledge documents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Travel policies and reference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Text extraction → Chunking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342687"/>
                  </a:ext>
                </a:extLst>
              </a:tr>
              <a:tr h="712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Travel structured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Structured travel-related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Row-level document conversion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335611"/>
                  </a:ext>
                </a:extLst>
              </a:tr>
              <a:tr h="712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 metadata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Metadata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Source/category identification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Retained with chunks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860314"/>
                  </a:ext>
                </a:extLst>
              </a:tr>
              <a:tr h="712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Vector embeddings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Numerical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Semantic representation of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Indexed in Azure AI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2044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8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F3EA8"/>
                </a:solidFill>
              </a:rPr>
              <a:t>1.5 Solution methodology</a:t>
            </a:r>
            <a:endParaRPr sz="1800">
              <a:solidFill>
                <a:srgbClr val="0F3EA8"/>
              </a:solidFill>
            </a:endParaRPr>
          </a:p>
        </p:txBody>
      </p:sp>
      <p:sp>
        <p:nvSpPr>
          <p:cNvPr id="223" name="Google Shape;223;p48"/>
          <p:cNvSpPr txBox="1"/>
          <p:nvPr/>
        </p:nvSpPr>
        <p:spPr>
          <a:xfrm>
            <a:off x="3114447" y="175429"/>
            <a:ext cx="359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Write the </a:t>
            </a: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solution methodology 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here</a:t>
            </a:r>
            <a:r>
              <a:rPr lang="en" sz="1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B38E65-20EC-10DF-7891-E6EFEDC39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961212"/>
              </p:ext>
            </p:extLst>
          </p:nvPr>
        </p:nvGraphicFramePr>
        <p:xfrm>
          <a:off x="311150" y="1187626"/>
          <a:ext cx="8521700" cy="2133600"/>
        </p:xfrm>
        <a:graphic>
          <a:graphicData uri="http://schemas.openxmlformats.org/drawingml/2006/table">
            <a:tbl>
              <a:tblPr>
                <a:tableStyleId>{07143288-809D-40E6-B21C-5C0D959D3583}</a:tableStyleId>
              </a:tblPr>
              <a:tblGrid>
                <a:gridCol w="2132373">
                  <a:extLst>
                    <a:ext uri="{9D8B030D-6E8A-4147-A177-3AD203B41FA5}">
                      <a16:colId xmlns:a16="http://schemas.microsoft.com/office/drawing/2014/main" val="3833631893"/>
                    </a:ext>
                  </a:extLst>
                </a:gridCol>
                <a:gridCol w="6389327">
                  <a:extLst>
                    <a:ext uri="{9D8B030D-6E8A-4147-A177-3AD203B41FA5}">
                      <a16:colId xmlns:a16="http://schemas.microsoft.com/office/drawing/2014/main" val="24613505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23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 Ingest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Load PDF &amp; CSV travel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574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2. Prepare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Extract, chunk &amp; enrich with metadata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242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 Vectorize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 embeddings using Azure OpenAI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360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 Index &amp; Retrieve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 &amp; semantically search using Azure AI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255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 Generate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Ground LLM response using retrieved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575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6. Govern &amp; Monitor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Validate input/output and track execution through </a:t>
                      </a:r>
                      <a:r>
                        <a:rPr lang="en-IN" dirty="0" err="1"/>
                        <a:t>MLflow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0998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49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230" name="Google Shape;230;p49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9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49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873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9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2600" b="1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Step 2: Provision Azure Resources</a:t>
            </a:r>
            <a:endParaRPr sz="2600" b="1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0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F3EA8"/>
                </a:solidFill>
              </a:rPr>
              <a:t>Azure Services</a:t>
            </a:r>
            <a:endParaRPr sz="1800">
              <a:solidFill>
                <a:srgbClr val="0F3EA8"/>
              </a:solidFill>
            </a:endParaRPr>
          </a:p>
        </p:txBody>
      </p:sp>
      <p:sp>
        <p:nvSpPr>
          <p:cNvPr id="239" name="Google Shape;239;p50"/>
          <p:cNvSpPr/>
          <p:nvPr/>
        </p:nvSpPr>
        <p:spPr>
          <a:xfrm>
            <a:off x="3668687" y="135459"/>
            <a:ext cx="3293047" cy="950363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(In this section, provide details of the Azure services required for the project and their purpose)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4646B0-B6EF-0F59-7359-1DFBAAE47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595954"/>
              </p:ext>
            </p:extLst>
          </p:nvPr>
        </p:nvGraphicFramePr>
        <p:xfrm>
          <a:off x="311151" y="1166493"/>
          <a:ext cx="5559450" cy="3536135"/>
        </p:xfrm>
        <a:graphic>
          <a:graphicData uri="http://schemas.openxmlformats.org/drawingml/2006/table">
            <a:tbl>
              <a:tblPr>
                <a:tableStyleId>{07143288-809D-40E6-B21C-5C0D959D3583}</a:tableStyleId>
              </a:tblPr>
              <a:tblGrid>
                <a:gridCol w="1853150">
                  <a:extLst>
                    <a:ext uri="{9D8B030D-6E8A-4147-A177-3AD203B41FA5}">
                      <a16:colId xmlns:a16="http://schemas.microsoft.com/office/drawing/2014/main" val="1625718020"/>
                    </a:ext>
                  </a:extLst>
                </a:gridCol>
                <a:gridCol w="1853150">
                  <a:extLst>
                    <a:ext uri="{9D8B030D-6E8A-4147-A177-3AD203B41FA5}">
                      <a16:colId xmlns:a16="http://schemas.microsoft.com/office/drawing/2014/main" val="3109971191"/>
                    </a:ext>
                  </a:extLst>
                </a:gridCol>
                <a:gridCol w="1853150">
                  <a:extLst>
                    <a:ext uri="{9D8B030D-6E8A-4147-A177-3AD203B41FA5}">
                      <a16:colId xmlns:a16="http://schemas.microsoft.com/office/drawing/2014/main" val="288975892"/>
                    </a:ext>
                  </a:extLst>
                </a:gridCol>
              </a:tblGrid>
              <a:tr h="384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Azure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Purpose in 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How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424405"/>
                  </a:ext>
                </a:extLst>
              </a:tr>
              <a:tr h="922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Azure OpenAI / Microsoft Foundry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Provides AI models for embeddings and response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Converts text/query into embeddings and generates grounded responses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8882327"/>
                  </a:ext>
                </a:extLst>
              </a:tr>
              <a:tr h="922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Azure AI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Vector knowledge store and retrieval engine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Stores document chunks + vectors and retrieves semantically relevant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532056"/>
                  </a:ext>
                </a:extLst>
              </a:tr>
              <a:tr h="653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Azure Resource Group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Logical resource organization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Groups project-related Azure 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717058"/>
                  </a:ext>
                </a:extLst>
              </a:tr>
              <a:tr h="653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Azure Content Safety (if configured)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Additional content 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Supports assessment of unsafe input/output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2257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305C211-C58D-648F-DE91-2BE005527824}"/>
              </a:ext>
            </a:extLst>
          </p:cNvPr>
          <p:cNvSpPr txBox="1"/>
          <p:nvPr/>
        </p:nvSpPr>
        <p:spPr>
          <a:xfrm>
            <a:off x="6298839" y="1945594"/>
            <a:ext cx="1715609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00" dirty="0"/>
              <a:t>Document Chunk</a:t>
            </a:r>
          </a:p>
          <a:p>
            <a:pPr>
              <a:buNone/>
            </a:pPr>
            <a:r>
              <a:rPr lang="en-IN" sz="1000" dirty="0"/>
              <a:t>      ↓</a:t>
            </a:r>
          </a:p>
          <a:p>
            <a:pPr>
              <a:buNone/>
            </a:pPr>
            <a:r>
              <a:rPr lang="en-IN" sz="1000" dirty="0"/>
              <a:t>Embedding Vector</a:t>
            </a:r>
          </a:p>
          <a:p>
            <a:pPr>
              <a:buNone/>
            </a:pPr>
            <a:r>
              <a:rPr lang="en-IN" sz="1000" dirty="0"/>
              <a:t>      ↓</a:t>
            </a:r>
          </a:p>
          <a:p>
            <a:pPr>
              <a:buNone/>
            </a:pPr>
            <a:r>
              <a:rPr lang="en-IN" sz="1000" dirty="0"/>
              <a:t>Azure AI Search</a:t>
            </a:r>
          </a:p>
          <a:p>
            <a:pPr>
              <a:buNone/>
            </a:pPr>
            <a:r>
              <a:rPr lang="en-IN" sz="1000" dirty="0"/>
              <a:t>      ↓</a:t>
            </a:r>
          </a:p>
          <a:p>
            <a:pPr>
              <a:buNone/>
            </a:pPr>
            <a:r>
              <a:rPr lang="en-IN" sz="1000" dirty="0"/>
              <a:t>Vector Index</a:t>
            </a:r>
          </a:p>
          <a:p>
            <a:pPr>
              <a:buNone/>
            </a:pPr>
            <a:r>
              <a:rPr lang="en-IN" sz="1000" dirty="0" err="1"/>
              <a:t>wandernest</a:t>
            </a:r>
            <a:r>
              <a:rPr lang="en-IN" sz="1000" dirty="0"/>
              <a:t>-travel-index</a:t>
            </a:r>
          </a:p>
          <a:p>
            <a:pPr>
              <a:buNone/>
            </a:pPr>
            <a:r>
              <a:rPr lang="en-IN" sz="1000" dirty="0"/>
              <a:t>      ↓</a:t>
            </a:r>
          </a:p>
          <a:p>
            <a:pPr>
              <a:buNone/>
            </a:pPr>
            <a:r>
              <a:rPr lang="en-IN" sz="1000" dirty="0"/>
              <a:t>Top-K Similar Documents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51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246" name="Google Shape;246;p51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51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" name="Google Shape;248;p51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873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1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2600" b="1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Azure Foundry Service</a:t>
            </a:r>
            <a:endParaRPr sz="2600" b="1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52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256" name="Google Shape;256;p52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52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p52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8732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424242"/>
                </a:solidFill>
              </a:rPr>
              <a:t>Proprietary content. © Great Learning. All Rights Reserved. Unauthorized use or distribution prohibited.</a:t>
            </a:r>
            <a:endParaRPr sz="700" b="1">
              <a:solidFill>
                <a:srgbClr val="434343"/>
              </a:solidFill>
            </a:endParaRPr>
          </a:p>
        </p:txBody>
      </p:sp>
      <p:sp>
        <p:nvSpPr>
          <p:cNvPr id="259" name="Google Shape;259;p52"/>
          <p:cNvSpPr txBox="1"/>
          <p:nvPr/>
        </p:nvSpPr>
        <p:spPr>
          <a:xfrm>
            <a:off x="448125" y="154569"/>
            <a:ext cx="601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0" name="Google Shape;260;p52"/>
          <p:cNvSpPr txBox="1">
            <a:spLocks noGrp="1"/>
          </p:cNvSpPr>
          <p:nvPr>
            <p:ph type="title" idx="4294967295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1">
                <a:solidFill>
                  <a:srgbClr val="0F3EA8"/>
                </a:solidFill>
                <a:latin typeface="Nunito"/>
                <a:ea typeface="Nunito"/>
                <a:cs typeface="Nunito"/>
                <a:sym typeface="Nunito"/>
              </a:rPr>
              <a:t>2.1 Azure AI Foundry Resource creation</a:t>
            </a:r>
            <a:endParaRPr sz="1800" b="1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" name="Google Shape;261;p52"/>
          <p:cNvSpPr/>
          <p:nvPr/>
        </p:nvSpPr>
        <p:spPr>
          <a:xfrm>
            <a:off x="4538649" y="397707"/>
            <a:ext cx="3548934" cy="79371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(Put the screenshots </a:t>
            </a: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details during Azure AI </a:t>
            </a: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F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oundry </a:t>
            </a: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R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esource creation here)</a:t>
            </a:r>
            <a:endParaRPr sz="1400" b="0" i="0" u="none" strike="noStrike" cap="none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AC4F77-39C6-E194-E7EC-9DAD30DEE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550" y="1386231"/>
            <a:ext cx="5804198" cy="32323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53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268" name="Google Shape;268;p53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53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53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8732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424242"/>
                </a:solidFill>
              </a:rPr>
              <a:t>Proprietary content. © Great Learning. All Rights Reserved. Unauthorized use or distribution prohibited.</a:t>
            </a:r>
            <a:endParaRPr sz="700" b="1">
              <a:solidFill>
                <a:srgbClr val="434343"/>
              </a:solidFill>
            </a:endParaRPr>
          </a:p>
        </p:txBody>
      </p:sp>
      <p:sp>
        <p:nvSpPr>
          <p:cNvPr id="271" name="Google Shape;271;p53"/>
          <p:cNvSpPr/>
          <p:nvPr/>
        </p:nvSpPr>
        <p:spPr>
          <a:xfrm>
            <a:off x="4821692" y="200355"/>
            <a:ext cx="2827729" cy="88120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(Put the screenshot of the Azure AI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F</a:t>
            </a:r>
            <a:r>
              <a:rPr lang="en"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oundry user interface  here)</a:t>
            </a:r>
            <a:endParaRPr sz="14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2" name="Google Shape;272;p53"/>
          <p:cNvSpPr txBox="1">
            <a:spLocks noGrp="1"/>
          </p:cNvSpPr>
          <p:nvPr>
            <p:ph type="title" idx="4294967295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F3EA8"/>
                </a:solidFill>
                <a:latin typeface="Nunito"/>
                <a:ea typeface="Nunito"/>
                <a:cs typeface="Nunito"/>
                <a:sym typeface="Nunito"/>
              </a:rPr>
              <a:t>2.2 Azure AI Foundry Interface</a:t>
            </a:r>
            <a:endParaRPr sz="1800" b="1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b="1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A8C9D-F4DB-E671-5FA8-A0FA88DC0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896" y="1292425"/>
            <a:ext cx="7251592" cy="34345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54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279" name="Google Shape;279;p54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54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1" name="Google Shape;281;p54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873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4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2600" b="1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Foundry Model Deployment</a:t>
            </a:r>
            <a:endParaRPr sz="2600" b="1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5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E39A9"/>
                </a:solidFill>
              </a:rPr>
              <a:t>Model Selection</a:t>
            </a:r>
            <a:endParaRPr/>
          </a:p>
        </p:txBody>
      </p:sp>
      <p:sp>
        <p:nvSpPr>
          <p:cNvPr id="288" name="Google Shape;288;p55"/>
          <p:cNvSpPr/>
          <p:nvPr/>
        </p:nvSpPr>
        <p:spPr>
          <a:xfrm>
            <a:off x="2208721" y="217610"/>
            <a:ext cx="6189928" cy="57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(In this section, provide details of the models used in the project, its function and the reason for selecting the model)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7ACC95-C4B0-B4CB-B51A-7F3602FB4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858748"/>
              </p:ext>
            </p:extLst>
          </p:nvPr>
        </p:nvGraphicFramePr>
        <p:xfrm>
          <a:off x="1112716" y="1901190"/>
          <a:ext cx="6212595" cy="1341120"/>
        </p:xfrm>
        <a:graphic>
          <a:graphicData uri="http://schemas.openxmlformats.org/drawingml/2006/table">
            <a:tbl>
              <a:tblPr>
                <a:tableStyleId>{07143288-809D-40E6-B21C-5C0D959D3583}</a:tableStyleId>
              </a:tblPr>
              <a:tblGrid>
                <a:gridCol w="2070865">
                  <a:extLst>
                    <a:ext uri="{9D8B030D-6E8A-4147-A177-3AD203B41FA5}">
                      <a16:colId xmlns:a16="http://schemas.microsoft.com/office/drawing/2014/main" val="2701177146"/>
                    </a:ext>
                  </a:extLst>
                </a:gridCol>
                <a:gridCol w="2070865">
                  <a:extLst>
                    <a:ext uri="{9D8B030D-6E8A-4147-A177-3AD203B41FA5}">
                      <a16:colId xmlns:a16="http://schemas.microsoft.com/office/drawing/2014/main" val="372193308"/>
                    </a:ext>
                  </a:extLst>
                </a:gridCol>
                <a:gridCol w="2070865">
                  <a:extLst>
                    <a:ext uri="{9D8B030D-6E8A-4147-A177-3AD203B41FA5}">
                      <a16:colId xmlns:a16="http://schemas.microsoft.com/office/drawing/2014/main" val="3275015388"/>
                    </a:ext>
                  </a:extLst>
                </a:gridCol>
              </a:tblGrid>
              <a:tr h="185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Model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Why Selected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676526"/>
                  </a:ext>
                </a:extLst>
              </a:tr>
              <a:tr h="444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Azure OpenAI Embedding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Converts document chunks and queries into vector representations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Enables semantic similarity retrieval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669687"/>
                  </a:ext>
                </a:extLst>
              </a:tr>
              <a:tr h="444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Azure OpenAI Chat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Generates the final answer from retrieved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Provides natural-language response generation over grounded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9005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6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F3EA8"/>
                </a:solidFill>
              </a:rPr>
              <a:t>Model Deployment</a:t>
            </a:r>
            <a:endParaRPr sz="1800">
              <a:solidFill>
                <a:srgbClr val="0F3EA8"/>
              </a:solidFill>
            </a:endParaRPr>
          </a:p>
        </p:txBody>
      </p:sp>
      <p:sp>
        <p:nvSpPr>
          <p:cNvPr id="294" name="Google Shape;294;p56"/>
          <p:cNvSpPr/>
          <p:nvPr/>
        </p:nvSpPr>
        <p:spPr>
          <a:xfrm>
            <a:off x="3063789" y="102349"/>
            <a:ext cx="4581824" cy="68142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(Put the screenshot of the model selected in the “models + deployments” section here)</a:t>
            </a:r>
            <a:endParaRPr sz="14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2E63EC-53E6-82BE-A479-748C4B63F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8" y="1048909"/>
            <a:ext cx="5181892" cy="19811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p57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01" name="Google Shape;301;p57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57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57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873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7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2600" b="1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Azure AI Search Service Creation</a:t>
            </a:r>
            <a:endParaRPr sz="2600" b="1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58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11" name="Google Shape;311;p58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58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58"/>
          <p:cNvSpPr txBox="1"/>
          <p:nvPr/>
        </p:nvSpPr>
        <p:spPr>
          <a:xfrm>
            <a:off x="1836484" y="4910097"/>
            <a:ext cx="4991465" cy="111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8732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dirty="0">
                <a:solidFill>
                  <a:srgbClr val="424242"/>
                </a:solidFill>
              </a:rPr>
              <a:t>Proprietary content. © Great Learning. All Rights Reserved. Unauthorized use or distribution prohibited.</a:t>
            </a:r>
            <a:endParaRPr sz="700" b="1" dirty="0">
              <a:solidFill>
                <a:srgbClr val="434343"/>
              </a:solidFill>
            </a:endParaRPr>
          </a:p>
        </p:txBody>
      </p:sp>
      <p:sp>
        <p:nvSpPr>
          <p:cNvPr id="314" name="Google Shape;314;p58"/>
          <p:cNvSpPr txBox="1"/>
          <p:nvPr/>
        </p:nvSpPr>
        <p:spPr>
          <a:xfrm>
            <a:off x="448125" y="154569"/>
            <a:ext cx="601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5" name="Google Shape;315;p58"/>
          <p:cNvSpPr txBox="1">
            <a:spLocks noGrp="1"/>
          </p:cNvSpPr>
          <p:nvPr>
            <p:ph type="title" idx="4294967295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1">
                <a:solidFill>
                  <a:srgbClr val="0F3EA8"/>
                </a:solidFill>
                <a:latin typeface="Nunito"/>
                <a:ea typeface="Nunito"/>
                <a:cs typeface="Nunito"/>
                <a:sym typeface="Nunito"/>
              </a:rPr>
              <a:t>Azure AI Search Resource creation</a:t>
            </a:r>
            <a:endParaRPr sz="1800" b="1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6" name="Google Shape;316;p58"/>
          <p:cNvSpPr/>
          <p:nvPr/>
        </p:nvSpPr>
        <p:spPr>
          <a:xfrm>
            <a:off x="4096677" y="67378"/>
            <a:ext cx="5040731" cy="57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(Put the screenshots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lang="en"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details during Azure AI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Search R</a:t>
            </a:r>
            <a:r>
              <a:rPr lang="en"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esource creation here)</a:t>
            </a:r>
            <a:endParaRPr sz="14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06053C-4947-CC4C-7F49-A078F31A4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63" y="993798"/>
            <a:ext cx="4054572" cy="20609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E776A2-967C-AB8C-C5F0-34620739B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75" y="993798"/>
            <a:ext cx="4428325" cy="14541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E49CE5-9EB2-DD59-0385-3A66EB968F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75" y="2611055"/>
            <a:ext cx="4483541" cy="21787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59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23" name="Google Shape;323;p59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59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5" name="Google Shape;325;p59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873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59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2600" b="1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Azure Container Registry Service Creation</a:t>
            </a:r>
            <a:endParaRPr sz="2600" b="1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60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33" name="Google Shape;333;p60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60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60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8732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424242"/>
                </a:solidFill>
              </a:rPr>
              <a:t>Proprietary content. © Great Learning. All Rights Reserved. Unauthorized use or distribution prohibited.</a:t>
            </a:r>
            <a:endParaRPr sz="700" b="1">
              <a:solidFill>
                <a:srgbClr val="434343"/>
              </a:solidFill>
            </a:endParaRPr>
          </a:p>
        </p:txBody>
      </p:sp>
      <p:sp>
        <p:nvSpPr>
          <p:cNvPr id="336" name="Google Shape;336;p60"/>
          <p:cNvSpPr txBox="1"/>
          <p:nvPr/>
        </p:nvSpPr>
        <p:spPr>
          <a:xfrm>
            <a:off x="448125" y="154569"/>
            <a:ext cx="601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60"/>
          <p:cNvSpPr txBox="1">
            <a:spLocks noGrp="1"/>
          </p:cNvSpPr>
          <p:nvPr>
            <p:ph type="title" idx="4294967295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1">
                <a:solidFill>
                  <a:srgbClr val="0F3EA8"/>
                </a:solidFill>
                <a:latin typeface="Nunito"/>
                <a:ea typeface="Nunito"/>
                <a:cs typeface="Nunito"/>
                <a:sym typeface="Nunito"/>
              </a:rPr>
              <a:t>Azure Container Registry service creation</a:t>
            </a:r>
            <a:endParaRPr sz="1800" b="1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8" name="Google Shape;338;p60"/>
          <p:cNvSpPr/>
          <p:nvPr/>
        </p:nvSpPr>
        <p:spPr>
          <a:xfrm>
            <a:off x="5271247" y="451929"/>
            <a:ext cx="3473892" cy="63106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(Put the screenshots </a:t>
            </a: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details during Azure</a:t>
            </a: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 Container Registry R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esource creation here)</a:t>
            </a:r>
            <a:endParaRPr sz="1400" b="0" i="0" u="none" strike="noStrike" cap="none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BC0D44-17F6-0098-2D20-FA1AFE7EA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14" y="1358979"/>
            <a:ext cx="7701271" cy="34008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1"/>
          <p:cNvSpPr txBox="1">
            <a:spLocks noGrp="1"/>
          </p:cNvSpPr>
          <p:nvPr>
            <p:ph type="title"/>
          </p:nvPr>
        </p:nvSpPr>
        <p:spPr>
          <a:xfrm>
            <a:off x="311700" y="228540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E39A9"/>
                </a:solidFill>
              </a:rPr>
              <a:t>Azure App Services</a:t>
            </a:r>
            <a:endParaRPr sz="2600">
              <a:solidFill>
                <a:srgbClr val="0E39A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9" name="Google Shape;349;p62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50" name="Google Shape;350;p62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62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2" name="Google Shape;352;p62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8732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424242"/>
                </a:solidFill>
              </a:rPr>
              <a:t>Proprietary content. © Great Learning. All Rights Reserved. Unauthorized use or distribution prohibited.</a:t>
            </a:r>
            <a:endParaRPr sz="700" b="1">
              <a:solidFill>
                <a:srgbClr val="434343"/>
              </a:solidFill>
            </a:endParaRPr>
          </a:p>
        </p:txBody>
      </p:sp>
      <p:sp>
        <p:nvSpPr>
          <p:cNvPr id="353" name="Google Shape;353;p62"/>
          <p:cNvSpPr txBox="1"/>
          <p:nvPr/>
        </p:nvSpPr>
        <p:spPr>
          <a:xfrm>
            <a:off x="448125" y="154569"/>
            <a:ext cx="601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4" name="Google Shape;354;p62"/>
          <p:cNvSpPr txBox="1">
            <a:spLocks noGrp="1"/>
          </p:cNvSpPr>
          <p:nvPr>
            <p:ph type="title" idx="4294967295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1">
                <a:solidFill>
                  <a:srgbClr val="0F3EA8"/>
                </a:solidFill>
                <a:latin typeface="Nunito"/>
                <a:ea typeface="Nunito"/>
                <a:cs typeface="Nunito"/>
                <a:sym typeface="Nunito"/>
              </a:rPr>
              <a:t>Azure App service creation</a:t>
            </a:r>
            <a:endParaRPr sz="1800" b="1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5" name="Google Shape;355;p62"/>
          <p:cNvSpPr/>
          <p:nvPr/>
        </p:nvSpPr>
        <p:spPr>
          <a:xfrm>
            <a:off x="1152600" y="1208850"/>
            <a:ext cx="68388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(Put the screenshots </a:t>
            </a: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details during Azure</a:t>
            </a: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 App Service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creation here)</a:t>
            </a:r>
            <a:endParaRPr sz="1400" b="0" i="0" u="none" strike="noStrike" cap="none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" name="Google Shape;361;p63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62" name="Google Shape;362;p63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63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p63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2600" b="1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Step 3: Project Architecture</a:t>
            </a:r>
            <a:endParaRPr sz="2600" b="1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4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Architecture: Folder Structure</a:t>
            </a:r>
            <a:endParaRPr sz="2200"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0" name="Google Shape;370;p64"/>
          <p:cNvSpPr/>
          <p:nvPr/>
        </p:nvSpPr>
        <p:spPr>
          <a:xfrm>
            <a:off x="4291094" y="0"/>
            <a:ext cx="3431360" cy="9912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(This section should include screenshots of the project folder structure and a brief description of each folder and its purpose.)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1089FE-FA46-2AB6-2EC6-A8D456B52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3" y="776089"/>
            <a:ext cx="2187312" cy="420876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E1CBD-7124-A41D-29AA-0E8494821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400932"/>
              </p:ext>
            </p:extLst>
          </p:nvPr>
        </p:nvGraphicFramePr>
        <p:xfrm>
          <a:off x="2757824" y="1075578"/>
          <a:ext cx="4873166" cy="3416301"/>
        </p:xfrm>
        <a:graphic>
          <a:graphicData uri="http://schemas.openxmlformats.org/drawingml/2006/table">
            <a:tbl>
              <a:tblPr>
                <a:tableStyleId>{07143288-809D-40E6-B21C-5C0D959D3583}</a:tableStyleId>
              </a:tblPr>
              <a:tblGrid>
                <a:gridCol w="2436583">
                  <a:extLst>
                    <a:ext uri="{9D8B030D-6E8A-4147-A177-3AD203B41FA5}">
                      <a16:colId xmlns:a16="http://schemas.microsoft.com/office/drawing/2014/main" val="3073262516"/>
                    </a:ext>
                  </a:extLst>
                </a:gridCol>
                <a:gridCol w="2436583">
                  <a:extLst>
                    <a:ext uri="{9D8B030D-6E8A-4147-A177-3AD203B41FA5}">
                      <a16:colId xmlns:a16="http://schemas.microsoft.com/office/drawing/2014/main" val="360946675"/>
                    </a:ext>
                  </a:extLst>
                </a:gridCol>
              </a:tblGrid>
              <a:tr h="1743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/>
                        <a:t>Component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/>
                        <a:t>Purpose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467177"/>
                  </a:ext>
                </a:extLst>
              </a:tr>
              <a:tr h="174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src/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Core RAG application logic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4387091"/>
                  </a:ext>
                </a:extLst>
              </a:tr>
              <a:tr h="418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config.py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Centralizes configuration, Azure endpoints, deployment settings, Search settings and </a:t>
                      </a:r>
                      <a:r>
                        <a:rPr lang="en-IN" sz="800" dirty="0" err="1"/>
                        <a:t>MLflow</a:t>
                      </a:r>
                      <a:r>
                        <a:rPr lang="en-IN" sz="800" dirty="0"/>
                        <a:t> configuration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4551184"/>
                  </a:ext>
                </a:extLst>
              </a:tr>
              <a:tr h="296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data_loader.py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Loads source documents and performs document preparation/chunking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152732"/>
                  </a:ext>
                </a:extLst>
              </a:tr>
              <a:tr h="296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ingestion.py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Orchestrates ingestion from source data to vector index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243359"/>
                  </a:ext>
                </a:extLst>
              </a:tr>
              <a:tr h="296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vector_store.py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Creates/connects to the Azure AI Search vector store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928307"/>
                  </a:ext>
                </a:extLst>
              </a:tr>
              <a:tr h="296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search_engine.py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Performs semantic retrieval and grounded response generation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713650"/>
                  </a:ext>
                </a:extLst>
              </a:tr>
              <a:tr h="174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governance/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Contains input/output governance logic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482413"/>
                  </a:ext>
                </a:extLst>
              </a:tr>
              <a:tr h="174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governance_gate.py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Validates queries and generated responses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149206"/>
                  </a:ext>
                </a:extLst>
              </a:tr>
              <a:tr h="174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data/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Stores source travel knowledge used for ingestion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16774"/>
                  </a:ext>
                </a:extLst>
              </a:tr>
              <a:tr h="296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tests/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Unit/regression testing of major application components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594892"/>
                  </a:ext>
                </a:extLst>
              </a:tr>
              <a:tr h="174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requirements.txt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Python package dependencies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139380"/>
                  </a:ext>
                </a:extLst>
              </a:tr>
              <a:tr h="174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start_mlflow.sh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Starts local MLflow tracking service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860508"/>
                  </a:ext>
                </a:extLst>
              </a:tr>
              <a:tr h="296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.env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Runtime configuration/secrets, excluded from submission/version control</a:t>
                      </a:r>
                    </a:p>
                  </a:txBody>
                  <a:tcPr marL="52290" marR="52290" marT="26145" marB="26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4982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5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Architecture: Component Interaction</a:t>
            </a:r>
            <a:endParaRPr sz="2200"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6" name="Google Shape;376;p65"/>
          <p:cNvSpPr/>
          <p:nvPr/>
        </p:nvSpPr>
        <p:spPr>
          <a:xfrm>
            <a:off x="5095153" y="200339"/>
            <a:ext cx="3846297" cy="75057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latin typeface="Nunito Medium"/>
                <a:ea typeface="Nunito Medium"/>
                <a:cs typeface="Nunito Medium"/>
                <a:sym typeface="Nunito Medium"/>
              </a:rPr>
              <a:t>(</a:t>
            </a:r>
            <a:r>
              <a:rPr lang="en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section should include a diagram and an explanation of how the components within the project folder structure interact with each other.</a:t>
            </a:r>
            <a:r>
              <a:rPr lang="en" dirty="0">
                <a:latin typeface="Nunito Medium"/>
                <a:ea typeface="Nunito Medium"/>
                <a:cs typeface="Nunito Medium"/>
                <a:sym typeface="Nunito Medium"/>
              </a:rPr>
              <a:t>)</a:t>
            </a:r>
            <a:endParaRPr dirty="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DEA82-8BEA-2009-253D-3E7D92CD13D3}"/>
              </a:ext>
            </a:extLst>
          </p:cNvPr>
          <p:cNvSpPr txBox="1"/>
          <p:nvPr/>
        </p:nvSpPr>
        <p:spPr>
          <a:xfrm>
            <a:off x="202550" y="1496726"/>
            <a:ext cx="2443523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/>
              <a:t>data/</a:t>
            </a:r>
          </a:p>
          <a:p>
            <a:pPr>
              <a:buNone/>
            </a:pPr>
            <a:r>
              <a:rPr lang="en-IN" sz="1200" dirty="0"/>
              <a:t> ↓</a:t>
            </a:r>
          </a:p>
          <a:p>
            <a:pPr>
              <a:buNone/>
            </a:pPr>
            <a:r>
              <a:rPr lang="en-IN" sz="1200" dirty="0"/>
              <a:t>data_loader.py</a:t>
            </a:r>
          </a:p>
          <a:p>
            <a:pPr>
              <a:buNone/>
            </a:pPr>
            <a:r>
              <a:rPr lang="en-IN" sz="1200" dirty="0"/>
              <a:t> ↓</a:t>
            </a:r>
          </a:p>
          <a:p>
            <a:pPr>
              <a:buNone/>
            </a:pPr>
            <a:r>
              <a:rPr lang="en-IN" sz="1200" dirty="0"/>
              <a:t>ingestion.py</a:t>
            </a:r>
          </a:p>
          <a:p>
            <a:pPr>
              <a:buNone/>
            </a:pPr>
            <a:r>
              <a:rPr lang="en-IN" sz="1200" dirty="0"/>
              <a:t> ↓</a:t>
            </a:r>
          </a:p>
          <a:p>
            <a:pPr>
              <a:buNone/>
            </a:pPr>
            <a:r>
              <a:rPr lang="en-IN" sz="1200" dirty="0"/>
              <a:t>Azure OpenAI Embeddings</a:t>
            </a:r>
          </a:p>
          <a:p>
            <a:pPr>
              <a:buNone/>
            </a:pPr>
            <a:r>
              <a:rPr lang="en-IN" sz="1200" dirty="0"/>
              <a:t> ↓</a:t>
            </a:r>
          </a:p>
          <a:p>
            <a:pPr>
              <a:buNone/>
            </a:pPr>
            <a:r>
              <a:rPr lang="en-IN" sz="1200" dirty="0"/>
              <a:t>vector_store.py</a:t>
            </a:r>
          </a:p>
          <a:p>
            <a:pPr>
              <a:buNone/>
            </a:pPr>
            <a:r>
              <a:rPr lang="en-IN" sz="1200" dirty="0"/>
              <a:t> ↓</a:t>
            </a:r>
          </a:p>
          <a:p>
            <a:pPr>
              <a:buNone/>
            </a:pPr>
            <a:r>
              <a:rPr lang="en-IN" sz="1200" dirty="0"/>
              <a:t>Azure AI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7E32F-08A5-91E0-DBBA-BDC1C3808133}"/>
              </a:ext>
            </a:extLst>
          </p:cNvPr>
          <p:cNvSpPr txBox="1"/>
          <p:nvPr/>
        </p:nvSpPr>
        <p:spPr>
          <a:xfrm>
            <a:off x="202550" y="1098817"/>
            <a:ext cx="2443523" cy="30570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>
                <a:solidFill>
                  <a:schemeClr val="bg1"/>
                </a:solidFill>
              </a:rPr>
              <a:t>Offline ingestion 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5B00A-D4E7-97FE-644B-DB7A2265EB7F}"/>
              </a:ext>
            </a:extLst>
          </p:cNvPr>
          <p:cNvSpPr txBox="1"/>
          <p:nvPr/>
        </p:nvSpPr>
        <p:spPr>
          <a:xfrm>
            <a:off x="2957859" y="1496726"/>
            <a:ext cx="1768461" cy="3231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/>
              <a:t>User</a:t>
            </a:r>
          </a:p>
          <a:p>
            <a:pPr>
              <a:buNone/>
            </a:pPr>
            <a:r>
              <a:rPr lang="en-IN" sz="1200" dirty="0"/>
              <a:t> ↓</a:t>
            </a:r>
          </a:p>
          <a:p>
            <a:pPr>
              <a:buNone/>
            </a:pPr>
            <a:r>
              <a:rPr lang="en-IN" sz="1200" dirty="0"/>
              <a:t>Governance Gate</a:t>
            </a:r>
          </a:p>
          <a:p>
            <a:pPr>
              <a:buNone/>
            </a:pPr>
            <a:r>
              <a:rPr lang="en-IN" sz="1200" dirty="0"/>
              <a:t> ↓</a:t>
            </a:r>
          </a:p>
          <a:p>
            <a:pPr>
              <a:buNone/>
            </a:pPr>
            <a:r>
              <a:rPr lang="en-IN" sz="1200" dirty="0"/>
              <a:t>search_engine.py</a:t>
            </a:r>
          </a:p>
          <a:p>
            <a:pPr>
              <a:buNone/>
            </a:pPr>
            <a:r>
              <a:rPr lang="en-IN" sz="1200" dirty="0"/>
              <a:t> ↓</a:t>
            </a:r>
          </a:p>
          <a:p>
            <a:pPr>
              <a:buNone/>
            </a:pPr>
            <a:r>
              <a:rPr lang="en-IN" sz="1200" dirty="0"/>
              <a:t>Query Embedding</a:t>
            </a:r>
          </a:p>
          <a:p>
            <a:pPr>
              <a:buNone/>
            </a:pPr>
            <a:r>
              <a:rPr lang="en-IN" sz="1200" dirty="0"/>
              <a:t> ↓</a:t>
            </a:r>
          </a:p>
          <a:p>
            <a:pPr>
              <a:buNone/>
            </a:pPr>
            <a:r>
              <a:rPr lang="en-IN" sz="1200" dirty="0"/>
              <a:t>Azure AI Search</a:t>
            </a:r>
          </a:p>
          <a:p>
            <a:pPr>
              <a:buNone/>
            </a:pPr>
            <a:r>
              <a:rPr lang="en-IN" sz="1200" dirty="0"/>
              <a:t> ↓</a:t>
            </a:r>
          </a:p>
          <a:p>
            <a:pPr>
              <a:buNone/>
            </a:pPr>
            <a:r>
              <a:rPr lang="en-IN" sz="1200" dirty="0"/>
              <a:t>Top-K Chunks</a:t>
            </a:r>
          </a:p>
          <a:p>
            <a:pPr>
              <a:buNone/>
            </a:pPr>
            <a:r>
              <a:rPr lang="en-IN" sz="1200" dirty="0"/>
              <a:t> ↓</a:t>
            </a:r>
          </a:p>
          <a:p>
            <a:pPr>
              <a:buNone/>
            </a:pPr>
            <a:r>
              <a:rPr lang="en-IN" sz="1200" dirty="0"/>
              <a:t>Azure OpenAI</a:t>
            </a:r>
          </a:p>
          <a:p>
            <a:pPr>
              <a:buNone/>
            </a:pPr>
            <a:r>
              <a:rPr lang="en-IN" sz="1200" dirty="0"/>
              <a:t> ↓</a:t>
            </a:r>
          </a:p>
          <a:p>
            <a:pPr>
              <a:buNone/>
            </a:pPr>
            <a:r>
              <a:rPr lang="en-IN" sz="1200" dirty="0"/>
              <a:t>Output Governance</a:t>
            </a:r>
          </a:p>
          <a:p>
            <a:pPr>
              <a:buNone/>
            </a:pPr>
            <a:r>
              <a:rPr lang="en-IN" sz="1200" dirty="0"/>
              <a:t> ↓</a:t>
            </a:r>
          </a:p>
          <a:p>
            <a:pPr>
              <a:buNone/>
            </a:pPr>
            <a:r>
              <a:rPr lang="en-IN" sz="1200" dirty="0"/>
              <a:t>Answer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4AF3E5-28C6-4F35-F2B2-C96CB6F847A4}"/>
              </a:ext>
            </a:extLst>
          </p:cNvPr>
          <p:cNvSpPr txBox="1"/>
          <p:nvPr/>
        </p:nvSpPr>
        <p:spPr>
          <a:xfrm>
            <a:off x="2845857" y="1098817"/>
            <a:ext cx="2443523" cy="30570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Online query 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F88D1A-CF2E-1180-ECB1-14EC5E4BD12B}"/>
              </a:ext>
            </a:extLst>
          </p:cNvPr>
          <p:cNvSpPr txBox="1"/>
          <p:nvPr/>
        </p:nvSpPr>
        <p:spPr>
          <a:xfrm>
            <a:off x="5608850" y="1496726"/>
            <a:ext cx="207853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/>
              <a:t>Ingestion</a:t>
            </a:r>
          </a:p>
          <a:p>
            <a:pPr>
              <a:buNone/>
            </a:pPr>
            <a:r>
              <a:rPr lang="en-IN" sz="1200" dirty="0"/>
              <a:t>   │</a:t>
            </a:r>
          </a:p>
          <a:p>
            <a:pPr>
              <a:buNone/>
            </a:pPr>
            <a:r>
              <a:rPr lang="en-IN" sz="1200" dirty="0"/>
              <a:t>   ├────► </a:t>
            </a:r>
            <a:r>
              <a:rPr lang="en-IN" sz="1200" dirty="0" err="1"/>
              <a:t>MLflow</a:t>
            </a:r>
            <a:endParaRPr lang="en-IN" sz="1200" dirty="0"/>
          </a:p>
          <a:p>
            <a:pPr>
              <a:buNone/>
            </a:pPr>
            <a:r>
              <a:rPr lang="en-IN" sz="1200" dirty="0"/>
              <a:t>   │</a:t>
            </a:r>
          </a:p>
          <a:p>
            <a:pPr>
              <a:buNone/>
            </a:pPr>
            <a:r>
              <a:rPr lang="en-IN" sz="1200" dirty="0"/>
              <a:t>Search</a:t>
            </a:r>
          </a:p>
          <a:p>
            <a:pPr>
              <a:buNone/>
            </a:pPr>
            <a:r>
              <a:rPr lang="en-IN" sz="1200" dirty="0"/>
              <a:t>   │</a:t>
            </a:r>
          </a:p>
          <a:p>
            <a:pPr>
              <a:buNone/>
            </a:pPr>
            <a:r>
              <a:rPr lang="en-IN" sz="1200" dirty="0"/>
              <a:t>   └────► </a:t>
            </a:r>
            <a:r>
              <a:rPr lang="en-IN" sz="1200" dirty="0" err="1"/>
              <a:t>MLflow</a:t>
            </a:r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EA6480-6B88-1E03-54F4-FC7EE3561E8E}"/>
              </a:ext>
            </a:extLst>
          </p:cNvPr>
          <p:cNvSpPr txBox="1"/>
          <p:nvPr/>
        </p:nvSpPr>
        <p:spPr>
          <a:xfrm>
            <a:off x="5489164" y="1098817"/>
            <a:ext cx="2443523" cy="30570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Observability flow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6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Configure ‘.env’</a:t>
            </a:r>
            <a:endParaRPr sz="2200"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2" name="Google Shape;382;p66"/>
          <p:cNvSpPr/>
          <p:nvPr/>
        </p:nvSpPr>
        <p:spPr>
          <a:xfrm>
            <a:off x="2150079" y="200778"/>
            <a:ext cx="5151370" cy="66120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latin typeface="Nunito Medium"/>
                <a:ea typeface="Nunito Medium"/>
                <a:cs typeface="Nunito Medium"/>
                <a:sym typeface="Nunito Medium"/>
              </a:rPr>
              <a:t>(</a:t>
            </a:r>
            <a:r>
              <a:rPr lang="en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section should include a screenshot of the credentials that need to be configured in the </a:t>
            </a:r>
            <a:r>
              <a:rPr lang="en" dirty="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.env</a:t>
            </a:r>
            <a:r>
              <a:rPr lang="en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file, along with a brief description of each.</a:t>
            </a:r>
            <a:r>
              <a:rPr lang="en" dirty="0">
                <a:latin typeface="Nunito Medium"/>
                <a:ea typeface="Nunito Medium"/>
                <a:cs typeface="Nunito Medium"/>
                <a:sym typeface="Nunito Medium"/>
              </a:rPr>
              <a:t>)</a:t>
            </a:r>
            <a:endParaRPr dirty="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064D11-324A-8DC7-0521-FBFDA8346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97" y="1523179"/>
            <a:ext cx="4072964" cy="278274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7EB6A6-A029-875C-33CC-A22763752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227416"/>
              </p:ext>
            </p:extLst>
          </p:nvPr>
        </p:nvGraphicFramePr>
        <p:xfrm>
          <a:off x="4461997" y="950480"/>
          <a:ext cx="4400120" cy="3992242"/>
        </p:xfrm>
        <a:graphic>
          <a:graphicData uri="http://schemas.openxmlformats.org/drawingml/2006/table">
            <a:tbl>
              <a:tblPr>
                <a:tableStyleId>{07143288-809D-40E6-B21C-5C0D959D3583}</a:tableStyleId>
              </a:tblPr>
              <a:tblGrid>
                <a:gridCol w="1615669">
                  <a:extLst>
                    <a:ext uri="{9D8B030D-6E8A-4147-A177-3AD203B41FA5}">
                      <a16:colId xmlns:a16="http://schemas.microsoft.com/office/drawing/2014/main" val="3239313438"/>
                    </a:ext>
                  </a:extLst>
                </a:gridCol>
                <a:gridCol w="2784451">
                  <a:extLst>
                    <a:ext uri="{9D8B030D-6E8A-4147-A177-3AD203B41FA5}">
                      <a16:colId xmlns:a16="http://schemas.microsoft.com/office/drawing/2014/main" val="428287195"/>
                    </a:ext>
                  </a:extLst>
                </a:gridCol>
              </a:tblGrid>
              <a:tr h="151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b="1" dirty="0"/>
                        <a:t>Configuration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b="1" dirty="0"/>
                        <a:t>Purpose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602374"/>
                  </a:ext>
                </a:extLst>
              </a:tr>
              <a:tr h="258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AZURE_OPENAI_ENDPOINT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Endpoint used by the application to connect to the Azure-hosted OpenAI resource.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775397"/>
                  </a:ext>
                </a:extLst>
              </a:tr>
              <a:tr h="258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AZURE_OPENAI_API_KEY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Credential used by the application for key-based authentication to Azure OpenAI.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546079"/>
                  </a:ext>
                </a:extLst>
              </a:tr>
              <a:tr h="258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AZURE_OPENAI_API_VERSION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Specifies the API version used by the application when invoking Azure OpenAI.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035077"/>
                  </a:ext>
                </a:extLst>
              </a:tr>
              <a:tr h="470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AZURE_OPENAI_DEPLOYMENT_NAME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Identifies the deployed chat/generative model used to create the final grounded response. Azure model settings use the deployment name selected when the model is deployed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10080"/>
                  </a:ext>
                </a:extLst>
              </a:tr>
              <a:tr h="364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AZURE_OPENAI_EMBEDDING_DEPLOYMENT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Identifies the embedding-model deployment used to vectorize documents and user queries for semantic retrieval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60710"/>
                  </a:ext>
                </a:extLst>
              </a:tr>
              <a:tr h="468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AZURE_SEARCH_ENDPOINT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Connects the application to the Azure AI Search service used as the vector retrieval layer. In your implementation this is shefali.search.windows.net.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696436"/>
                  </a:ext>
                </a:extLst>
              </a:tr>
              <a:tr h="258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AZURE_SEARCH_KEY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Authentication credential used to access Azure AI Search. 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480973"/>
                  </a:ext>
                </a:extLst>
              </a:tr>
              <a:tr h="364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AZURE_SEARCH_INDEX_NAME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Identifies the vector index containing the ingested travel knowledge. Your project uses </a:t>
                      </a:r>
                      <a:r>
                        <a:rPr lang="en-IN" sz="600" dirty="0" err="1"/>
                        <a:t>wandernest</a:t>
                      </a:r>
                      <a:r>
                        <a:rPr lang="en-IN" sz="600" dirty="0"/>
                        <a:t>-travel-index.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152927"/>
                  </a:ext>
                </a:extLst>
              </a:tr>
              <a:tr h="364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MLFLOW_TRACKING_URI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Specifies where application runs and tracking information are sent to </a:t>
                      </a:r>
                      <a:r>
                        <a:rPr lang="en-IN" sz="600" dirty="0" err="1"/>
                        <a:t>MLflow</a:t>
                      </a:r>
                      <a:r>
                        <a:rPr lang="en-IN" sz="600" dirty="0"/>
                        <a:t>. Your development configuration uses localhost:5000.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996402"/>
                  </a:ext>
                </a:extLst>
              </a:tr>
              <a:tr h="258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MLFLOW_EXPERIMENT_NAME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Groups related </a:t>
                      </a:r>
                      <a:r>
                        <a:rPr lang="en-IN" sz="600" dirty="0" err="1"/>
                        <a:t>WanderNest</a:t>
                      </a:r>
                      <a:r>
                        <a:rPr lang="en-IN" sz="600" dirty="0"/>
                        <a:t> executions under the configured </a:t>
                      </a:r>
                      <a:r>
                        <a:rPr lang="en-IN" sz="600" dirty="0" err="1"/>
                        <a:t>MLflow</a:t>
                      </a:r>
                      <a:r>
                        <a:rPr lang="en-IN" sz="600" dirty="0"/>
                        <a:t> experiment.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786737"/>
                  </a:ext>
                </a:extLst>
              </a:tr>
              <a:tr h="258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AZURE_CONTENT_SAFETY_ENDPOINT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Endpoint for the Content Safety service, if enabled in the project.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500311"/>
                  </a:ext>
                </a:extLst>
              </a:tr>
              <a:tr h="258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AZURE_CONTENT_SAFETY_KEY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Authentication credential for Content Safety, if enabled</a:t>
                      </a:r>
                    </a:p>
                  </a:txBody>
                  <a:tcPr marL="38969" marR="38969" marT="19485" marB="19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1968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8" name="Google Shape;388;p67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89" name="Google Shape;389;p67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67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1" name="Google Shape;391;p67"/>
          <p:cNvSpPr txBox="1"/>
          <p:nvPr/>
        </p:nvSpPr>
        <p:spPr>
          <a:xfrm>
            <a:off x="502350" y="2371650"/>
            <a:ext cx="81393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2600" b="1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Step 4: Running the Application</a:t>
            </a:r>
            <a:br>
              <a:rPr lang="en" sz="2600" b="1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500" b="1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(Data Ingestion → Application → Evaluation)</a:t>
            </a:r>
            <a:endParaRPr sz="1500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8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4.1 Data Ingestion Execution</a:t>
            </a:r>
            <a:endParaRPr sz="2200"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7" name="Google Shape;397;p68"/>
          <p:cNvSpPr/>
          <p:nvPr/>
        </p:nvSpPr>
        <p:spPr>
          <a:xfrm>
            <a:off x="3456366" y="0"/>
            <a:ext cx="4216345" cy="769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latin typeface="Nunito Medium"/>
                <a:ea typeface="Nunito Medium"/>
                <a:cs typeface="Nunito Medium"/>
                <a:sym typeface="Nunito Medium"/>
              </a:rPr>
              <a:t>(</a:t>
            </a:r>
            <a:r>
              <a:rPr lang="en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section should describe how to execute the data ingestion process and include a screenshot of the output</a:t>
            </a:r>
            <a:r>
              <a:rPr lang="en" dirty="0">
                <a:latin typeface="Nunito Medium"/>
                <a:ea typeface="Nunito Medium"/>
                <a:cs typeface="Nunito Medium"/>
                <a:sym typeface="Nunito Medium"/>
              </a:rPr>
              <a:t>)</a:t>
            </a:r>
            <a:endParaRPr dirty="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47DC73-1FC9-58A9-4751-F795B18F607A}"/>
              </a:ext>
            </a:extLst>
          </p:cNvPr>
          <p:cNvSpPr txBox="1"/>
          <p:nvPr/>
        </p:nvSpPr>
        <p:spPr>
          <a:xfrm>
            <a:off x="202550" y="953806"/>
            <a:ext cx="1392494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900" dirty="0"/>
              <a:t>Travel Data</a:t>
            </a:r>
          </a:p>
          <a:p>
            <a:pPr>
              <a:buNone/>
            </a:pPr>
            <a:r>
              <a:rPr lang="en-IN" sz="900" dirty="0"/>
              <a:t>PDF / CSV</a:t>
            </a:r>
          </a:p>
          <a:p>
            <a:pPr>
              <a:buNone/>
            </a:pPr>
            <a:r>
              <a:rPr lang="en-IN" sz="900" dirty="0"/>
              <a:t>    │</a:t>
            </a:r>
          </a:p>
          <a:p>
            <a:pPr>
              <a:buNone/>
            </a:pPr>
            <a:r>
              <a:rPr lang="en-IN" sz="900" dirty="0"/>
              <a:t>   ▼</a:t>
            </a:r>
          </a:p>
          <a:p>
            <a:pPr>
              <a:buNone/>
            </a:pPr>
            <a:r>
              <a:rPr lang="en-IN" sz="900" dirty="0"/>
              <a:t>data_loader.py</a:t>
            </a:r>
          </a:p>
          <a:p>
            <a:pPr>
              <a:buNone/>
            </a:pPr>
            <a:r>
              <a:rPr lang="en-IN" sz="900" dirty="0"/>
              <a:t>    │</a:t>
            </a:r>
          </a:p>
          <a:p>
            <a:pPr>
              <a:buNone/>
            </a:pPr>
            <a:r>
              <a:rPr lang="en-IN" sz="900" dirty="0"/>
              <a:t>    ├─ Load documents</a:t>
            </a:r>
          </a:p>
          <a:p>
            <a:pPr>
              <a:buNone/>
            </a:pPr>
            <a:r>
              <a:rPr lang="en-IN" sz="900" dirty="0"/>
              <a:t>    ├─ Extract content</a:t>
            </a:r>
          </a:p>
          <a:p>
            <a:pPr>
              <a:buNone/>
            </a:pPr>
            <a:r>
              <a:rPr lang="en-IN" sz="900" dirty="0"/>
              <a:t>    └─ Split into chunks</a:t>
            </a:r>
          </a:p>
          <a:p>
            <a:pPr>
              <a:buNone/>
            </a:pPr>
            <a:r>
              <a:rPr lang="en-IN" sz="900" dirty="0"/>
              <a:t>    │</a:t>
            </a:r>
          </a:p>
          <a:p>
            <a:pPr>
              <a:buNone/>
            </a:pPr>
            <a:r>
              <a:rPr lang="en-IN" sz="900" dirty="0"/>
              <a:t>   ▼</a:t>
            </a:r>
          </a:p>
          <a:p>
            <a:pPr>
              <a:buNone/>
            </a:pPr>
            <a:r>
              <a:rPr lang="en-IN" sz="900" dirty="0"/>
              <a:t>Azure OpenAI</a:t>
            </a:r>
          </a:p>
          <a:p>
            <a:pPr>
              <a:buNone/>
            </a:pPr>
            <a:r>
              <a:rPr lang="en-IN" sz="900" dirty="0"/>
              <a:t>Embedding Model</a:t>
            </a:r>
          </a:p>
          <a:p>
            <a:pPr>
              <a:buNone/>
            </a:pPr>
            <a:r>
              <a:rPr lang="en-IN" sz="900" dirty="0"/>
              <a:t>    │</a:t>
            </a:r>
          </a:p>
          <a:p>
            <a:pPr>
              <a:buNone/>
            </a:pPr>
            <a:r>
              <a:rPr lang="en-IN" sz="900" dirty="0"/>
              <a:t>   ▼</a:t>
            </a:r>
          </a:p>
          <a:p>
            <a:pPr>
              <a:buNone/>
            </a:pPr>
            <a:r>
              <a:rPr lang="en-IN" sz="900" dirty="0"/>
              <a:t>vector_store.py</a:t>
            </a:r>
          </a:p>
          <a:p>
            <a:pPr>
              <a:buNone/>
            </a:pPr>
            <a:r>
              <a:rPr lang="en-IN" sz="900" dirty="0"/>
              <a:t>    │</a:t>
            </a:r>
          </a:p>
          <a:p>
            <a:pPr>
              <a:buNone/>
            </a:pPr>
            <a:r>
              <a:rPr lang="en-IN" sz="900" dirty="0"/>
              <a:t>   ▼</a:t>
            </a:r>
          </a:p>
          <a:p>
            <a:pPr>
              <a:buNone/>
            </a:pPr>
            <a:r>
              <a:rPr lang="en-IN" sz="900" dirty="0"/>
              <a:t>Azure AI Search</a:t>
            </a:r>
          </a:p>
          <a:p>
            <a:pPr>
              <a:buNone/>
            </a:pPr>
            <a:r>
              <a:rPr lang="en-IN" sz="900" dirty="0" err="1"/>
              <a:t>wandernest</a:t>
            </a:r>
            <a:r>
              <a:rPr lang="en-IN" sz="900" dirty="0"/>
              <a:t>-travel-index</a:t>
            </a:r>
          </a:p>
          <a:p>
            <a:pPr>
              <a:buNone/>
            </a:pPr>
            <a:r>
              <a:rPr lang="en-IN" sz="900" dirty="0"/>
              <a:t>    │</a:t>
            </a:r>
          </a:p>
          <a:p>
            <a:pPr>
              <a:buNone/>
            </a:pPr>
            <a:r>
              <a:rPr lang="en-IN" sz="900" dirty="0"/>
              <a:t>   ▼</a:t>
            </a:r>
          </a:p>
          <a:p>
            <a:pPr>
              <a:buNone/>
            </a:pPr>
            <a:r>
              <a:rPr lang="en-IN" sz="900" dirty="0"/>
              <a:t>Verification Query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777983-4255-070E-100D-B978EBD14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509" y="953806"/>
            <a:ext cx="3207029" cy="1434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B90BD4-29A5-0AB5-DB8D-7DF2DAA6E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509" y="2430451"/>
            <a:ext cx="3671315" cy="25589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8278F1F-324B-BFCC-8633-5F7E4CEE4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3344" y="953806"/>
            <a:ext cx="3858106" cy="119639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9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4.2 Running the Streamlit Application</a:t>
            </a:r>
            <a:endParaRPr sz="2200"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3" name="Google Shape;403;p69"/>
          <p:cNvSpPr/>
          <p:nvPr/>
        </p:nvSpPr>
        <p:spPr>
          <a:xfrm>
            <a:off x="4882457" y="68858"/>
            <a:ext cx="1950299" cy="57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900" dirty="0">
                <a:latin typeface="Nunito Medium"/>
                <a:ea typeface="Nunito Medium"/>
                <a:cs typeface="Nunito Medium"/>
                <a:sym typeface="Nunito Medium"/>
              </a:rPr>
              <a:t>(</a:t>
            </a:r>
            <a:r>
              <a:rPr lang="en" sz="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section should describe how to execute the Streamlit application and include a screenshot of the output UI</a:t>
            </a:r>
            <a:r>
              <a:rPr lang="en" sz="900" dirty="0">
                <a:latin typeface="Nunito Medium"/>
                <a:ea typeface="Nunito Medium"/>
                <a:cs typeface="Nunito Medium"/>
                <a:sym typeface="Nunito Medium"/>
              </a:rPr>
              <a:t>)</a:t>
            </a:r>
            <a:endParaRPr sz="900" dirty="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73B0D0E-2CEB-4DE8-11F7-B616F9CEC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5" y="762087"/>
            <a:ext cx="3409823" cy="2134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6D1FF32-0128-CCF6-FF5B-C4D4C0AF7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5" y="2983933"/>
            <a:ext cx="5778378" cy="192500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0D75C68-7832-8A43-B62E-7734D7711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657" y="762087"/>
            <a:ext cx="2675809" cy="14509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B81ACD5-6650-D18D-7923-FE318FF41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045" y="762087"/>
            <a:ext cx="2596824" cy="14080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8F089D0-3557-1E9F-0532-6B33CCD365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606" y="2973326"/>
            <a:ext cx="3209331" cy="18215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0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4.2 Running RAGAS Evaluation</a:t>
            </a:r>
            <a:endParaRPr sz="2200"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9" name="Google Shape;409;p70"/>
          <p:cNvSpPr/>
          <p:nvPr/>
        </p:nvSpPr>
        <p:spPr>
          <a:xfrm>
            <a:off x="4364531" y="94665"/>
            <a:ext cx="3350239" cy="57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800" dirty="0">
                <a:latin typeface="Nunito Medium"/>
                <a:ea typeface="Nunito Medium"/>
                <a:cs typeface="Nunito Medium"/>
                <a:sym typeface="Nunito Medium"/>
              </a:rPr>
              <a:t>(</a:t>
            </a:r>
            <a:r>
              <a:rPr lang="en" sz="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section should describe how to run a RAGAS evaluation to assess the performance of the RAG system, explain the evaluation metrics, and include a screenshot of the output</a:t>
            </a:r>
            <a:r>
              <a:rPr lang="en" sz="800" dirty="0">
                <a:latin typeface="Nunito Medium"/>
                <a:ea typeface="Nunito Medium"/>
                <a:cs typeface="Nunito Medium"/>
                <a:sym typeface="Nunito Medium"/>
              </a:rPr>
              <a:t>)</a:t>
            </a:r>
            <a:endParaRPr sz="800" dirty="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B50F2-77EE-6FE0-BADB-4BD66BF653BB}"/>
              </a:ext>
            </a:extLst>
          </p:cNvPr>
          <p:cNvSpPr txBox="1"/>
          <p:nvPr/>
        </p:nvSpPr>
        <p:spPr>
          <a:xfrm>
            <a:off x="595512" y="1641870"/>
            <a:ext cx="1494545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800" dirty="0"/>
              <a:t>Test Question</a:t>
            </a:r>
          </a:p>
          <a:p>
            <a:pPr>
              <a:buNone/>
            </a:pPr>
            <a:r>
              <a:rPr lang="en-IN" sz="800" dirty="0"/>
              <a:t>     │</a:t>
            </a:r>
          </a:p>
          <a:p>
            <a:pPr>
              <a:buNone/>
            </a:pPr>
            <a:r>
              <a:rPr lang="en-IN" sz="800" dirty="0"/>
              <a:t>     ▼</a:t>
            </a:r>
          </a:p>
          <a:p>
            <a:pPr>
              <a:buNone/>
            </a:pPr>
            <a:r>
              <a:rPr lang="en-IN" sz="800" dirty="0" err="1"/>
              <a:t>WanderNest</a:t>
            </a:r>
            <a:r>
              <a:rPr lang="en-IN" sz="800" dirty="0"/>
              <a:t> RAG</a:t>
            </a:r>
          </a:p>
          <a:p>
            <a:pPr>
              <a:buNone/>
            </a:pPr>
            <a:r>
              <a:rPr lang="en-IN" sz="800" dirty="0"/>
              <a:t>     │</a:t>
            </a:r>
          </a:p>
          <a:p>
            <a:pPr>
              <a:buNone/>
            </a:pPr>
            <a:r>
              <a:rPr lang="en-IN" sz="800" dirty="0"/>
              <a:t>     ├── Retrieved Context</a:t>
            </a:r>
          </a:p>
          <a:p>
            <a:pPr>
              <a:buNone/>
            </a:pPr>
            <a:r>
              <a:rPr lang="en-IN" sz="800" dirty="0"/>
              <a:t>     │</a:t>
            </a:r>
          </a:p>
          <a:p>
            <a:pPr>
              <a:buNone/>
            </a:pPr>
            <a:r>
              <a:rPr lang="en-IN" sz="800" dirty="0"/>
              <a:t>     └── Generated Answer</a:t>
            </a:r>
          </a:p>
          <a:p>
            <a:pPr>
              <a:buNone/>
            </a:pPr>
            <a:r>
              <a:rPr lang="en-IN" sz="800" dirty="0"/>
              <a:t>              │</a:t>
            </a:r>
          </a:p>
          <a:p>
            <a:pPr>
              <a:buNone/>
            </a:pPr>
            <a:r>
              <a:rPr lang="en-IN" sz="800" dirty="0"/>
              <a:t>              ▼</a:t>
            </a:r>
          </a:p>
          <a:p>
            <a:pPr>
              <a:buNone/>
            </a:pPr>
            <a:r>
              <a:rPr lang="en-IN" sz="800" dirty="0"/>
              <a:t>             RAGAS</a:t>
            </a:r>
          </a:p>
          <a:p>
            <a:pPr>
              <a:buNone/>
            </a:pPr>
            <a:r>
              <a:rPr lang="en-IN" sz="800" dirty="0"/>
              <a:t>              │</a:t>
            </a:r>
          </a:p>
          <a:p>
            <a:pPr>
              <a:buNone/>
            </a:pPr>
            <a:r>
              <a:rPr lang="en-IN" sz="800" dirty="0"/>
              <a:t>     </a:t>
            </a:r>
            <a:r>
              <a:rPr lang="en-IN" sz="800" b="1" dirty="0"/>
              <a:t>┌────┼--------┐</a:t>
            </a:r>
          </a:p>
          <a:p>
            <a:pPr>
              <a:buNone/>
            </a:pPr>
            <a:r>
              <a:rPr lang="en-IN" sz="800" dirty="0"/>
              <a:t>     ▼        ▼         ▼</a:t>
            </a:r>
          </a:p>
          <a:p>
            <a:pPr>
              <a:buNone/>
            </a:pPr>
            <a:r>
              <a:rPr lang="en-IN" sz="500" dirty="0"/>
              <a:t>     Retrieval      Grounding   Answer</a:t>
            </a:r>
          </a:p>
          <a:p>
            <a:pPr>
              <a:buNone/>
            </a:pPr>
            <a:r>
              <a:rPr lang="en-IN" sz="500" dirty="0"/>
              <a:t>      Quality         </a:t>
            </a:r>
            <a:r>
              <a:rPr lang="en-IN" sz="500" dirty="0" err="1"/>
              <a:t>Quality</a:t>
            </a:r>
            <a:r>
              <a:rPr lang="en-IN" sz="500" dirty="0"/>
              <a:t>      </a:t>
            </a:r>
            <a:r>
              <a:rPr lang="en-IN" sz="500" dirty="0" err="1"/>
              <a:t>Quality</a:t>
            </a:r>
            <a:endParaRPr lang="en-IN" sz="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306E14-3A02-D628-6D2E-C92DE1E39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740" y="777783"/>
            <a:ext cx="2353791" cy="11937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40D2AB-27ED-0EC0-C621-F71803C91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633" y="777783"/>
            <a:ext cx="2227175" cy="11937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8A2BC4-6344-C0F1-2325-228AE42DE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0741" y="2214902"/>
            <a:ext cx="2461368" cy="11498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" name="Google Shape;415;p71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416" name="Google Shape;416;p71"/>
            <p:cNvSpPr/>
            <p:nvPr/>
          </p:nvSpPr>
          <p:spPr>
            <a:xfrm>
              <a:off x="6592" y="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71"/>
            <p:cNvSpPr/>
            <p:nvPr/>
          </p:nvSpPr>
          <p:spPr>
            <a:xfrm>
              <a:off x="6592" y="353728"/>
              <a:ext cx="175895" cy="355600"/>
            </a:xfrm>
            <a:custGeom>
              <a:avLst/>
              <a:gdLst/>
              <a:ahLst/>
              <a:cxnLst/>
              <a:rect l="l" t="t" r="r" b="b"/>
              <a:pathLst>
                <a:path w="175895" h="355600" extrusionOk="0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8" name="Google Shape;418;p71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Conclusion : Key Takeaways and Business Outcomes</a:t>
            </a:r>
            <a:endParaRPr sz="2600" b="1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2"/>
          <p:cNvSpPr/>
          <p:nvPr/>
        </p:nvSpPr>
        <p:spPr>
          <a:xfrm>
            <a:off x="1063800" y="1208850"/>
            <a:ext cx="70164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400"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Write the Key Takeaways here:</a:t>
            </a:r>
            <a:b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IN" dirty="0">
                <a:latin typeface="Montserrat Medium"/>
              </a:rPr>
              <a:t>Grounded RAG combines enterprise knowledge with GenAI, while RAGAS enables objective assessment of retrieval, relevance, and response faithfulness.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4" name="Google Shape;424;p72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E39A9"/>
                </a:solidFill>
              </a:rPr>
              <a:t>Key Takeaways</a:t>
            </a:r>
            <a:endParaRPr sz="1800">
              <a:solidFill>
                <a:srgbClr val="0E39A9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3"/>
          <p:cNvSpPr/>
          <p:nvPr/>
        </p:nvSpPr>
        <p:spPr>
          <a:xfrm>
            <a:off x="1063800" y="1208850"/>
            <a:ext cx="70164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Write the Expected Business Impact here:</a:t>
            </a:r>
            <a:b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US" dirty="0">
                <a:latin typeface="Montserrat Medium"/>
                <a:ea typeface="Montserrat Medium"/>
                <a:cs typeface="Montserrat Medium"/>
                <a:sym typeface="Montserrat Medium"/>
              </a:rPr>
              <a:t>Faster access to trusted information, improved answer reliability, lower hallucination risk, and a repeatable framework for continuous RAG quality improvement.</a:t>
            </a:r>
            <a:b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b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0" name="Google Shape;430;p7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E39A9"/>
                </a:solidFill>
              </a:rPr>
              <a:t>Expected Business Impact</a:t>
            </a:r>
            <a:endParaRPr sz="1800">
              <a:solidFill>
                <a:srgbClr val="0E39A9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/>
          <p:nvPr/>
        </p:nvSpPr>
        <p:spPr>
          <a:xfrm>
            <a:off x="163750" y="2192549"/>
            <a:ext cx="3842100" cy="7584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28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sz="28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2864</TotalTime>
  <Words>2015</Words>
  <Application>Microsoft Office PowerPoint</Application>
  <PresentationFormat>On-screen Show (16:9)</PresentationFormat>
  <Paragraphs>310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Century Gothic</vt:lpstr>
      <vt:lpstr>Nunito Medium</vt:lpstr>
      <vt:lpstr>Arial</vt:lpstr>
      <vt:lpstr>Verdana</vt:lpstr>
      <vt:lpstr>Montserrat</vt:lpstr>
      <vt:lpstr>Calibri</vt:lpstr>
      <vt:lpstr>Nunito</vt:lpstr>
      <vt:lpstr>Montserrat Medium</vt:lpstr>
      <vt:lpstr>Nunito ExtraBold</vt:lpstr>
      <vt:lpstr>Nunito SemiBold</vt:lpstr>
      <vt:lpstr>Just Logo</vt:lpstr>
      <vt:lpstr>Simple Light</vt:lpstr>
      <vt:lpstr>Simple Light</vt:lpstr>
      <vt:lpstr>PowerPoint Presentation</vt:lpstr>
      <vt:lpstr>Ground Rules : Important</vt:lpstr>
      <vt:lpstr>Instructions </vt:lpstr>
      <vt:lpstr>PowerPoint Presentation</vt:lpstr>
      <vt:lpstr>1.1 Problem Statement</vt:lpstr>
      <vt:lpstr>1.2 Business Context</vt:lpstr>
      <vt:lpstr>1.3 Data Description</vt:lpstr>
      <vt:lpstr>1.4 Data Source</vt:lpstr>
      <vt:lpstr>1.5 Solution methodology</vt:lpstr>
      <vt:lpstr>PowerPoint Presentation</vt:lpstr>
      <vt:lpstr>Azure Services</vt:lpstr>
      <vt:lpstr>PowerPoint Presentation</vt:lpstr>
      <vt:lpstr>2.1 Azure AI Foundry Resource creation</vt:lpstr>
      <vt:lpstr>2.2 Azure AI Foundry Interface </vt:lpstr>
      <vt:lpstr>PowerPoint Presentation</vt:lpstr>
      <vt:lpstr>Model Selection</vt:lpstr>
      <vt:lpstr>Model Deployment</vt:lpstr>
      <vt:lpstr>PowerPoint Presentation</vt:lpstr>
      <vt:lpstr>Azure AI Search Resource creation</vt:lpstr>
      <vt:lpstr>PowerPoint Presentation</vt:lpstr>
      <vt:lpstr>Azure Container Registry service creation</vt:lpstr>
      <vt:lpstr>Azure App Services</vt:lpstr>
      <vt:lpstr>Azure App service creation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Takeaways</vt:lpstr>
      <vt:lpstr>Expected Business Impact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Prashant Raizada</cp:lastModifiedBy>
  <cp:revision>36</cp:revision>
  <dcterms:modified xsi:type="dcterms:W3CDTF">2026-10-11T11:25:24Z</dcterms:modified>
</cp:coreProperties>
</file>